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7955279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icrosoft JhengHei"/>
              </a:rPr>
              <a:t>面向工業設備健康監測之
可重現無監督異常偵測軟體流程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93392"/>
            <a:ext cx="6858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Microsoft JhengHei"/>
              </a:rPr>
              <a:t>以 VAE 軸承振動分析為例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795527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Times New Roman"/>
              </a:rPr>
              <a:t>A Reproducible Unsupervised Anomaly Detection Pipeline for Industrial Health Monitoring</a:t>
            </a:r>
          </a:p>
        </p:txBody>
      </p:sp>
      <p:pic>
        <p:nvPicPr>
          <p:cNvPr id="5" name="Picture 4" descr="01_time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0"/>
            <a:ext cx="3840480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416052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160520"/>
            <a:ext cx="731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4297680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JhengHei"/>
              </a:rPr>
              <a:t>報告者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690872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張家軒
國立勤益科技大學 人工智慧應用工程系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416052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416052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4297680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JhengHei"/>
              </a:rPr>
              <a:t>指導教授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690872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張俊隆 教授
National Chin-Yi University of Technology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4032" y="416052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14032" y="4160520"/>
            <a:ext cx="73152" cy="960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2" y="4297680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45309"/>
                </a:solidFill>
                <a:latin typeface="Microsoft JhengHei"/>
              </a:rPr>
              <a:t>研究定位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2" y="4690872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可重現流程、正常資料訓練、跨工況閾值校準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報告大綱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  <a:latin typeface="Microsoft JhengHei"/>
              </a:defRPr>
            </a:pPr>
            <a:r>
              <a:t>研究背景：為什麼工業異常偵測不能只看 AUC</a:t>
            </a:r>
          </a:p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  <a:latin typeface="Microsoft JhengHei"/>
              </a:defRPr>
            </a:pPr>
            <a:r>
              <a:t>方法流程：CWRU 資料、VAE、正常資料訓練</a:t>
            </a:r>
          </a:p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  <a:latin typeface="Microsoft JhengHei"/>
              </a:defRPr>
            </a:pPr>
            <a:r>
              <a:t>評審補強：load-wise split、threshold calibration、noise robustness</a:t>
            </a:r>
          </a:p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  <a:latin typeface="Microsoft JhengHei"/>
              </a:defRPr>
            </a:pPr>
            <a:r>
              <a:t>主要發現：模型排序能力穩定，但固定閾值跨負載不穩</a:t>
            </a:r>
          </a:p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  <a:latin typeface="Microsoft JhengHei"/>
              </a:defRPr>
            </a:pPr>
            <a:r>
              <a:t>結論：可重現流程 + 實務部署校準策略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研究動機：真實工廠資料不是平衡分類題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5087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Microsoft JhengHei"/>
              </a:rPr>
              <a:t>故障資料稀少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設備大多數時間處於健康狀態，故障事件少且昂貴。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73152" cy="1508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7160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45309"/>
                </a:solidFill>
                <a:latin typeface="Microsoft JhengHei"/>
              </a:rPr>
              <a:t>標注成本高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64792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需要專家判讀，且很難事先蒐集所有故障模式。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23444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7160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JhengHei"/>
              </a:rPr>
              <a:t>部署條件會變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764792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負載、轉速、感測雜訊與機台狀態都可能改變。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102412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Microsoft JhengHei"/>
              </a:rPr>
              <a:t>因此，本研究採用無監督異常偵測：只用正常資料學習健康狀態，推論時以偏離正常分布程度作為異常分數。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研究貢獻與評審回應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6035040" cy="46634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Microsoft JhengHei"/>
              </a:defRPr>
            </a:pPr>
            <a:r>
              <a:t>可重現開源流程：自動下載、切窗、訓練、評估與視覺化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Microsoft JhengHei"/>
              </a:defRPr>
            </a:pPr>
            <a:r>
              <a:t>正常資料訓練：不使用故障標籤學習分類邊界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Microsoft JhengHei"/>
              </a:defRPr>
            </a:pPr>
            <a:r>
              <a:t>更嚴格泛化驗證：新增 load-wise split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Microsoft JhengHei"/>
              </a:defRPr>
            </a:pPr>
            <a:r>
              <a:t>實務部署分析：補充 FAR、MR、PR-AUC、F1 與閾值校準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Microsoft JhengHei"/>
              </a:defRPr>
            </a:pPr>
            <a:r>
              <a:t>模型定位修正：AE/VAE 對照，避免過度宣稱 VAE 效能突破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325880"/>
            <a:ext cx="4206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86600" y="1325880"/>
            <a:ext cx="73152" cy="10515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463039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Microsoft JhengHei"/>
              </a:rPr>
              <a:t>原始疑慮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56231"/>
            <a:ext cx="388620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CWRU 上多數方法 AUC 皆接近 1.0，可能高估模型效能。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743200"/>
            <a:ext cx="4206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86600" y="2743200"/>
            <a:ext cx="7315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880360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JhengHei"/>
              </a:rPr>
              <a:t>補強策略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73552"/>
            <a:ext cx="388620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從「模型滿分」轉為檢驗「跨負載與閾值部署穩定性」。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4160520"/>
            <a:ext cx="4206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416052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97680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JhengHei"/>
              </a:rPr>
              <a:t>論文定位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690872"/>
            <a:ext cx="388620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可重現流程與實務分析，而非單一模型效能突破。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軟體流程：從資料到部署指標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38528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1143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JhengHei"/>
              </a:rPr>
              <a:t>CWRU
資料下載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4248" y="2212848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4872" y="18288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938528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267712"/>
            <a:ext cx="1143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JhengHei"/>
              </a:rPr>
              <a:t>滑動視窗
1024 / 512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12848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Jheng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8288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938528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267712"/>
            <a:ext cx="1143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JhengHei"/>
              </a:rPr>
              <a:t>正常資料
訓練 VAE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2212848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Jheng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8288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938528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267712"/>
            <a:ext cx="1143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JhengHei"/>
              </a:rPr>
              <a:t>重建誤差
異常分數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212848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Jheng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18288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1938528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267712"/>
            <a:ext cx="1143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JhengHei"/>
              </a:rPr>
              <a:t>load-wise
泛化驗證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2056" y="2212848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Jheng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18288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22408" y="1938528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Microsoft JhengHe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267712"/>
            <a:ext cx="1143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JhengHei"/>
              </a:rPr>
              <a:t>閾值校準
FAR / MR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886200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設計原則：流程模組化，模型可替換，評估指標不只看 AUC，也看部署時最敏感的誤報與漏報。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資料集與前處理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6</a:t>
            </a:r>
          </a:p>
        </p:txBody>
      </p:sp>
      <p:pic>
        <p:nvPicPr>
          <p:cNvPr id="5" name="Picture 4" descr="04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70916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60720" y="1143000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1143000"/>
            <a:ext cx="731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280160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JhengHei"/>
              </a:rPr>
              <a:t>資料集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673352"/>
            <a:ext cx="4983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CWRU Bearing Dataset，12 kHz；正常軸承與內圈、滾動體、外圈故障。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423160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2423160"/>
            <a:ext cx="731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560320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JhengHei"/>
              </a:rPr>
              <a:t>切窗設定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953512"/>
            <a:ext cx="4983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1,024 點視窗、512 點步長，50% 重疊，共 11,832 個片段。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703320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3703320"/>
            <a:ext cx="73152" cy="1005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840480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45309"/>
                </a:solidFill>
                <a:latin typeface="Microsoft JhengHei"/>
              </a:rPr>
              <a:t>不平衡模擬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233672"/>
            <a:ext cx="4983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保留全部正常樣本，只保留 10% 故障樣本，形成 79.5% : 20.5%。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VAE 異常偵測概念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0F766E"/>
                </a:solidFill>
                <a:latin typeface="Microsoft JhengHei"/>
              </a:rPr>
              <a:t>只用正常訊號訓練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325880"/>
            <a:ext cx="1828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Microsoft JhengHei"/>
              </a:rPr>
              <a:t>Encoder
μ, log σ²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325880"/>
            <a:ext cx="2011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B45309"/>
                </a:solidFill>
                <a:latin typeface="Microsoft JhengHei"/>
              </a:rPr>
              <a:t>Latent z
KL regularization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325880"/>
            <a:ext cx="1828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Microsoft JhengHei"/>
              </a:rPr>
              <a:t>Decoder
重建訊號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20116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20116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20" y="20116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240280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475569"/>
                </a:solidFill>
                <a:latin typeface="Microsoft JhengHe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240280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475569"/>
                </a:solidFill>
                <a:latin typeface="Microsoft JhengHe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240280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475569"/>
                </a:solidFill>
                <a:latin typeface="Microsoft JhengHe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94760"/>
            <a:ext cx="5303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B91C1C"/>
                </a:solidFill>
                <a:latin typeface="Microsoft JhengHei"/>
              </a:rPr>
              <a:t>異常分數 = 平均重建 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709160"/>
            <a:ext cx="9875520" cy="1051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Microsoft JhengHei"/>
              </a:defRPr>
            </a:pPr>
            <a:r>
              <a:t>正常訊號：模型能重建，誤差低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Microsoft JhengHei"/>
              </a:defRPr>
            </a:pPr>
            <a:r>
              <a:t>故障訊號：偏離正常潛在流形，誤差高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Microsoft JhengHei"/>
              </a:defRPr>
            </a:pPr>
            <a:r>
              <a:t>本研究重點：異常分數排序 + 跨負載閾值穩定性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視窗層級基準：CWRU 高度可分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8</a:t>
            </a:r>
          </a:p>
        </p:txBody>
      </p:sp>
      <p:pic>
        <p:nvPicPr>
          <p:cNvPr id="5" name="Picture 4" descr="08_reconstruction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4800600" cy="3429000"/>
          </a:xfrm>
          <a:prstGeom prst="rect">
            <a:avLst/>
          </a:prstGeom>
        </p:spPr>
      </p:pic>
      <p:pic>
        <p:nvPicPr>
          <p:cNvPr id="6" name="Picture 5" descr="09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143000"/>
            <a:ext cx="438912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43000" y="4983480"/>
            <a:ext cx="2194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5129784"/>
            <a:ext cx="2048255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  <a:latin typeface="Microsoft JhengHei"/>
              </a:rPr>
              <a:t>1.0000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641848"/>
            <a:ext cx="20116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Microsoft JhengHei"/>
              </a:rPr>
              <a:t>AUC-ROC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4983480"/>
            <a:ext cx="2194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1" y="5129784"/>
            <a:ext cx="2048255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  <a:latin typeface="Microsoft JhengHei"/>
              </a:rPr>
              <a:t>5.2×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5641848"/>
            <a:ext cx="20116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Microsoft JhengHei"/>
              </a:rPr>
              <a:t>故障/正常重建誤差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983480"/>
            <a:ext cx="2194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5129784"/>
            <a:ext cx="2048255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B45309"/>
                </a:solidFill>
                <a:latin typeface="Microsoft JhengHei"/>
              </a:rPr>
              <a:t>1.0000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641848"/>
            <a:ext cx="20116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Microsoft JhengHei"/>
              </a:rPr>
              <a:t>AE / VAE 皆滿分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08076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B91C1C"/>
                </a:solidFill>
                <a:latin typeface="Microsoft JhengHei"/>
              </a:rPr>
              <a:t>重點：滿分 AUC 代表資料容易分離，不足以證明實務部署穩定。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Load-wise Split：排序穩定，但固定閾值失效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9</a:t>
            </a:r>
          </a:p>
        </p:txBody>
      </p:sp>
      <p:pic>
        <p:nvPicPr>
          <p:cNvPr id="5" name="Picture 4" descr="loadwise_f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486400" cy="32918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6520" y="1234440"/>
          <a:ext cx="489203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7"/>
                <a:gridCol w="978407"/>
                <a:gridCol w="978407"/>
                <a:gridCol w="978407"/>
                <a:gridCol w="978407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Load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AUC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PR-AUC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F1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FAR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85.4%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14.7%</a:t>
                      </a:r>
                    </a:p>
                  </a:txBody>
                  <a:tcPr marL="36576" marR="36576"/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99.8%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0.1%</a:t>
                      </a:r>
                    </a:p>
                  </a:txBody>
                  <a:tcPr marL="36576" marR="36576"/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99.6%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0.2%</a:t>
                      </a:r>
                    </a:p>
                  </a:txBody>
                  <a:tcPr marL="36576" marR="36576"/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30.8%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Microsoft JhengHei"/>
                        </a:rPr>
                        <a:t>99.2%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37960" y="4069080"/>
            <a:ext cx="4709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60" y="4069080"/>
            <a:ext cx="73152" cy="1188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20624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Microsoft JhengHei"/>
              </a:rPr>
              <a:t>關鍵發現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599432"/>
            <a:ext cx="4389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所有 load 的 AUC / PR-AUC 皆為 1.0000，但 load 3 的 FAR 達 99.16%。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icrosoft JhengHei"/>
              </a:rPr>
              <a:t>AUC 會說「排序正確」，FAR 才會說「部署會不會一直誤報」。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Threshold Calibration：少量目標正常資料大幅降低誤報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10</a:t>
            </a:r>
          </a:p>
        </p:txBody>
      </p:sp>
      <p:pic>
        <p:nvPicPr>
          <p:cNvPr id="5" name="Picture 4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6035040" cy="37490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5472" y="1472184"/>
            <a:ext cx="18653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B91C1C"/>
                </a:solidFill>
                <a:latin typeface="Microsoft JhengHei"/>
              </a:rPr>
              <a:t>28.55%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1984248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Microsoft JhengHei"/>
              </a:rPr>
              <a:t>Val P95 平均 FAR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54312" y="1472184"/>
            <a:ext cx="18653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  <a:latin typeface="Microsoft JhengHei"/>
              </a:rPr>
              <a:t>1.14%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984248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Microsoft JhengHei"/>
              </a:rPr>
              <a:t>Target P99 平均 FAR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74320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2889504"/>
            <a:ext cx="18653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B45309"/>
                </a:solidFill>
                <a:latin typeface="Microsoft JhengHei"/>
              </a:rPr>
              <a:t>78.89%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3401568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Microsoft JhengHei"/>
              </a:rPr>
              <a:t>Val P95 平均 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74320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2889504"/>
            <a:ext cx="18653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  <a:latin typeface="Microsoft JhengHei"/>
              </a:rPr>
              <a:t>98.05%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401568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Microsoft JhengHei"/>
              </a:rPr>
              <a:t>Target P99 平均 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251960"/>
            <a:ext cx="4160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0" y="4251960"/>
            <a:ext cx="731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4389120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JhengHei"/>
              </a:rPr>
              <a:t>部署建議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782312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上線前蒐集少量目標負載健康資料，用 P99 校準閾值。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Noise Robustness：CWRU 乾淨，低 SNR 會暴露風險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11</a:t>
            </a:r>
          </a:p>
        </p:txBody>
      </p:sp>
      <p:pic>
        <p:nvPicPr>
          <p:cNvPr id="5" name="Picture 4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21792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23444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20" y="1234440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371600"/>
            <a:ext cx="342899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JhengHei"/>
              </a:rPr>
              <a:t>30 / 20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64792"/>
            <a:ext cx="342899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表現接近 clean setting，F1 約 78%。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51460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514600"/>
            <a:ext cx="73152" cy="914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651760"/>
            <a:ext cx="342899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45309"/>
                </a:solidFill>
                <a:latin typeface="Microsoft JhengHei"/>
              </a:rPr>
              <a:t>10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044952"/>
            <a:ext cx="342899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F1 降至 61.38%，FAR 上升至 52.90%。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79476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3794760"/>
            <a:ext cx="73152" cy="9144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931920"/>
            <a:ext cx="342899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Microsoft JhengHei"/>
              </a:rPr>
              <a:t>5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325112"/>
            <a:ext cx="342899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固定閾值幾乎失效，FAR 達 100%。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icrosoft JhengHei"/>
              </a:rPr>
              <a:t>結論：真實工廠部署需搭配濾波、噪音感知校準或自適應閾值。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AE vs VAE：誠實定位模型價值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25880"/>
          <a:ext cx="105156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Model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AUC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PR-AUC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Mean F1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Mean FAR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Mean MR</a:t>
                      </a:r>
                    </a:p>
                  </a:txBody>
                  <a:tcPr marL="36576" marR="36576">
                    <a:solidFill>
                      <a:srgbClr val="1E293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VAE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78.89%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28.55%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0.00%</a:t>
                      </a:r>
                    </a:p>
                  </a:txBody>
                  <a:tcPr marL="36576" marR="36576"/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AE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1.0000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80.52%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26.52%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72A"/>
                          </a:solidFill>
                          <a:latin typeface="Microsoft JhengHei"/>
                        </a:rPr>
                        <a:t>0.00%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324612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383279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JhengHei"/>
              </a:rPr>
              <a:t>排序指標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76472"/>
            <a:ext cx="2788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AE 與 VAE 的 AUC / PR-AUC 皆達 1.0000。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24612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3246120"/>
            <a:ext cx="7315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79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45309"/>
                </a:solidFill>
                <a:latin typeface="Microsoft JhengHei"/>
              </a:rPr>
              <a:t>閾值指標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76472"/>
            <a:ext cx="2788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兩者 FAR 接近，AE 略低；不應宣稱 VAE 顯著優越。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24612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324612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383279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JhengHei"/>
              </a:rPr>
              <a:t>VAE 價值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776472"/>
            <a:ext cx="2788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作為具機率潛在空間的可替換模型元件。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  <a:latin typeface="Microsoft JhengHei"/>
              </a:rPr>
              <a:t>研究定位從「VAE 效能突破」修正為「可重現管線與部署限制分析」。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核心發現：真正的問題不是分離，而是部署閾值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14300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JhengHei"/>
              </a:rPr>
              <a:t>1. CWRU 高度可分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73352"/>
            <a:ext cx="3063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視窗層級與 load-wise 下，AUC / PR-AUC 仍可滿分。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430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143000"/>
            <a:ext cx="73152" cy="14630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Microsoft JhengHei"/>
              </a:rPr>
              <a:t>2. 固定閾值不穩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73352"/>
            <a:ext cx="3063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load 3 的 FAR 顯示跨負載分布轉移會造成高誤報。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73152" cy="1463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8016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JhengHei"/>
              </a:rPr>
              <a:t>3. 校準很有效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73352"/>
            <a:ext cx="3063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少量目標正常資料能將 FAR 從 28.55% 降至 1.14%。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33375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23160" y="3337560"/>
            <a:ext cx="73152" cy="14630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347472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45309"/>
                </a:solidFill>
                <a:latin typeface="Microsoft JhengHei"/>
              </a:rPr>
              <a:t>4. 噪音仍是挑戰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67911"/>
            <a:ext cx="3063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10 / 5 dB 下固定閾值明顯失效，需要自適應策略。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3375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337560"/>
            <a:ext cx="73152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47472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JhengHei"/>
              </a:rPr>
              <a:t>5. 模型可替換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67911"/>
            <a:ext cx="3063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AE/VAE 差異有限，流程本身才是可延伸貢獻。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JhengHei"/>
              </a:rPr>
              <a:t>結論與未來工作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46520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JhengHei"/>
              </a:rPr>
              <a:t>TCSE 2026  |  CWRU-VAE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7498079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icrosoft JhengHei"/>
              </a:defRPr>
            </a:pPr>
            <a:r>
              <a:t>本文提出一套可重現的無監督工業異常偵測流程。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icrosoft JhengHei"/>
              </a:defRPr>
            </a:pPr>
            <a:r>
              <a:t>VAE 在 CWRU 上能穩定分離正常與故障訊號，但滿分 AUC 不等於部署可靠。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icrosoft JhengHei"/>
              </a:defRPr>
            </a:pPr>
            <a:r>
              <a:t>Load-wise split 顯示跨負載閾值漂移是實務風險。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icrosoft JhengHei"/>
              </a:defRPr>
            </a:pPr>
            <a:r>
              <a:t>Threshold calibration 可有效降低 false alarm rate。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icrosoft JhengHei"/>
              </a:defRPr>
            </a:pPr>
            <a:r>
              <a:t>未來將延伸至 IMS、FEMTO-ST / PRONOSTIA、Paderborn 等更具挑戰資料集。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41732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41080" y="1417320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55448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JhengHei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9476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github.com/charmi582/CWRU-VAE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74320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41080" y="274320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288036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JhengHei"/>
              </a:rPr>
              <a:t>投稿定位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27355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JhengHei"/>
              </a:rPr>
              <a:t>可重現流程
正常資料訓練
部署校準分析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572000"/>
            <a:ext cx="2514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Microsoft JhengHei"/>
              </a:rPr>
              <a:t>謝謝聆聽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