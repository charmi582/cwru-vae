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  <a:latin typeface="Microsoft JhengHei"/>
              </a:rPr>
              <a:t>CWRU 資料集  ｜  VAE 變分自編碼器  ｜  異常偵測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</a:rPr>
              <a:t>基於變分自編碼器之軸承故障無監督異常偵測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774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196F3"/>
                </a:solidFill>
                <a:latin typeface="Microsoft JhengHei"/>
              </a:rPr>
              <a:t>KL 損失正則化潛在空間・工業設備健康監測應用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Microsoft JhengHei"/>
              </a:rPr>
              <a:t>凱斯西儲大學（CWRU）軸承資料集 ／ PyTorch ／ Apple 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49039"/>
            <a:ext cx="2011680" cy="8229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785615"/>
            <a:ext cx="18653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5A"/>
                </a:solidFill>
                <a:latin typeface="Microsoft JhengHei"/>
              </a:rPr>
              <a:t>AUC = 1.0000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206240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Microsoft JhengHei"/>
              </a:rPr>
              <a:t>完美異常偵測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3749039"/>
            <a:ext cx="2011680" cy="8229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3785615"/>
            <a:ext cx="18653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600"/>
                </a:solidFill>
                <a:latin typeface="Microsoft JhengHei"/>
              </a:rPr>
              <a:t>5-Fold 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4206240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Microsoft JhengHei"/>
              </a:rPr>
              <a:t>交叉驗證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749039"/>
            <a:ext cx="2011680" cy="8229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3785615"/>
            <a:ext cx="18653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600"/>
                </a:solidFill>
                <a:latin typeface="Microsoft JhengHei"/>
              </a:rPr>
              <a:t>5.2 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4206240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Microsoft JhengHei"/>
              </a:rPr>
              <a:t>故障/正常誤差比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749039"/>
            <a:ext cx="164592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3785615"/>
            <a:ext cx="14996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96F3"/>
                </a:solidFill>
                <a:latin typeface="Microsoft JhengHei"/>
              </a:rPr>
              <a:t>僅正常資料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4206240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Microsoft JhengHei"/>
              </a:rPr>
              <a:t>訓練策略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研究背景與動機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Microsoft JhengHei"/>
              </a:rPr>
              <a:t>為何需要軸承故障偵測？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軸承是旋轉機械（馬達、風機、幫浦）的核心零件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未及時偵測故障 → 非計畫停機、安全風險、鉅額損失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及早偵測可降低維修成本達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工業 IoT 趨勢要求自動化、即時的狀態監測方案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Microsoft JhengHei"/>
              </a:rPr>
              <a:t>核心挑戰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88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故障事件極為罕見 → 資料嚴重不平衡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0632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故障標籤需靠專家標注，成本高昂且難以取得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傳統監督式學習在不平衡資料下表現不佳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A"/>
                </a:solidFill>
                <a:latin typeface="Microsoft JhengHei"/>
              </a:rPr>
              <a:t>本研究解決方案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9651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VAE 僅用正常訊號訓練，學習「正常流形」
→ 故障訊號無法被良好重建 → 高重建誤差 → 自動標記異常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594360"/>
            <a:ext cx="3474720" cy="42062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685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600"/>
                </a:solidFill>
                <a:latin typeface="Microsoft JhengHei"/>
              </a:rPr>
              <a:t>資料分布統計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1430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原始片段總數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1430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icrosoft JhengHei"/>
              </a:rPr>
              <a:t>11,832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600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平衡後總數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6002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Microsoft JhengHei"/>
              </a:rPr>
              <a:t>4,162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0574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正常（訓練用）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0574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C85A"/>
                </a:solidFill>
                <a:latin typeface="Microsoft JhengHei"/>
              </a:rPr>
              <a:t>3,310 (79.5%)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5146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故障（僅評估）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514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0BEC5"/>
                </a:solidFill>
                <a:latin typeface="Microsoft JhengHei"/>
              </a:rPr>
              <a:t>852 (20.5%)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971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內圈故障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9718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44336"/>
                </a:solidFill>
                <a:latin typeface="Microsoft JhengHei"/>
              </a:rPr>
              <a:t>282 片段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4290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滾動體故障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4290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800"/>
                </a:solidFill>
                <a:latin typeface="Microsoft JhengHei"/>
              </a:rPr>
              <a:t>271 片段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886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外圈故障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8862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C27B0"/>
                </a:solidFill>
                <a:latin typeface="Microsoft JhengHei"/>
              </a:rPr>
              <a:t>299 片段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CWRU 軸承資料集介紹</a:t>
            </a:r>
          </a:p>
        </p:txBody>
      </p:sp>
      <p:pic>
        <p:nvPicPr>
          <p:cNvPr id="4" name="Picture 3" descr="01_time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48640"/>
            <a:ext cx="4389120" cy="3760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943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  <a:latin typeface="Microsoft JhengHei"/>
              </a:rPr>
              <a:t>實驗設置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206240" cy="41148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軸承型號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06984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SKF 6205 深溝球軸承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81328"/>
            <a:ext cx="420624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453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採樣頻率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453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12,000 Hz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56816"/>
            <a:ext cx="4206240" cy="41148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208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故障製造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2082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電火花加工（EDM）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32304"/>
            <a:ext cx="420624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963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故障尺寸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4963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0.007" / 0.014" / 0.021" 直徑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07792"/>
            <a:ext cx="4206240" cy="41148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718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負載條件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29718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0、1、2、3 HP（1720-1797 RPM）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83280"/>
            <a:ext cx="420624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4472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檔案總數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4472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40 個 .mat 檔案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8587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Microsoft JhengHei"/>
              </a:rPr>
              <a:t>故障類型分類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60520"/>
            <a:ext cx="1005840" cy="5943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420624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5A"/>
                </a:solidFill>
                <a:latin typeface="Microsoft JhengHei"/>
              </a:rPr>
              <a:t>正常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53312" y="4160520"/>
            <a:ext cx="1005840" cy="5943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20624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4336"/>
                </a:solidFill>
                <a:latin typeface="Microsoft JhengHei"/>
              </a:rPr>
              <a:t>內圈故障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32303" y="4160520"/>
            <a:ext cx="1005840" cy="5943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50591" y="420624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9800"/>
                </a:solidFill>
                <a:latin typeface="Microsoft JhengHei"/>
              </a:rPr>
              <a:t>滾動體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1296" y="4160520"/>
            <a:ext cx="1005840" cy="5943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9584" y="4206240"/>
            <a:ext cx="9692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C27B0"/>
                </a:solidFill>
                <a:latin typeface="Microsoft JhengHei"/>
              </a:rPr>
              <a:t>外圈故障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資料前處理與工廠情境模擬</a:t>
            </a:r>
          </a:p>
        </p:txBody>
      </p:sp>
      <p:pic>
        <p:nvPicPr>
          <p:cNvPr id="4" name="Picture 3" descr="04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48640"/>
            <a:ext cx="4663440" cy="19572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594360"/>
            <a:ext cx="3977639" cy="10058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9224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Microsoft JhengHei"/>
              </a:rPr>
              <a:t>① 滑動視窗切割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96696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icrosoft JhengHei"/>
              </a:rPr>
              <a:t>視窗大小：1,024 點（≈85 ms @ 12 kHz）
步長：512 點（50% 重疊）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91640"/>
            <a:ext cx="3977639" cy="10058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46504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Microsoft JhengHei"/>
              </a:rPr>
              <a:t>② 工廠分布模擬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93976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icrosoft JhengHei"/>
              </a:rPr>
              <a:t>保留全部正常片段（3,310）
隨機保留 10% 故障片段（852）
真實工廠中故障罕見，正常占比 79.5%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788920"/>
            <a:ext cx="3977639" cy="10058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843784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Microsoft JhengHei"/>
              </a:rPr>
              <a:t>③ 逐樣本 Z-Score 正規化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191256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icrosoft JhengHei"/>
              </a:rPr>
              <a:t>每個視窗獨立：減去均值，除以標準差
確保各片段振幅尺度一致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886200"/>
            <a:ext cx="3977639" cy="10058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941063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96F3"/>
                </a:solidFill>
                <a:latin typeface="Microsoft JhengHei"/>
              </a:rPr>
              <a:t>④ 訓練 / 評估分離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88536"/>
            <a:ext cx="3794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icrosoft JhengHei"/>
              </a:rPr>
              <a:t>VAE 僅以正常片段訓練（3,310 片）
故障資料僅用於評估 AUC-ROC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訊號分析：FFT 頻譜 與 STFT 時頻譜圖</a:t>
            </a:r>
          </a:p>
        </p:txBody>
      </p:sp>
      <p:pic>
        <p:nvPicPr>
          <p:cNvPr id="4" name="Picture 3" descr="02_fft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48640"/>
            <a:ext cx="4434840" cy="3772508"/>
          </a:xfrm>
          <a:prstGeom prst="rect">
            <a:avLst/>
          </a:prstGeom>
        </p:spPr>
      </p:pic>
      <p:pic>
        <p:nvPicPr>
          <p:cNvPr id="5" name="Picture 4" descr="03_spect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548640"/>
            <a:ext cx="4389120" cy="1085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" y="47091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Microsoft JhengHei"/>
              </a:rPr>
              <a:t>◀  FFT 頻域分析：故障訊號出現明顯諧波頻率峰值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47091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Microsoft JhengHei"/>
              </a:rPr>
              <a:t>STFT 時頻分析：故障訊號出現週期性能量聚集  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t-SNE 特徵空間視覺化（原始訊號）</a:t>
            </a:r>
          </a:p>
        </p:txBody>
      </p:sp>
      <p:pic>
        <p:nvPicPr>
          <p:cNvPr id="4" name="Picture 3" descr="05_tsne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35622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5"/>
                </a:solidFill>
                <a:latin typeface="Microsoft JhengHei"/>
              </a:rPr>
              <a:t>故障訊號在原始特徵空間已具備部分可分性；VAE 潛在空間可達完全分離。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VAE 架構設計：一維卷積編碼器─解碼器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2743200" cy="411480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96F3"/>
                </a:solidFill>
                <a:latin typeface="Microsoft JhengHei"/>
              </a:rPr>
              <a:t>編碼器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輸入 (B, 1, 1024)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99031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Conv1d 1→16  k7 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4650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Conv1d 16→32 k5 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9397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Conv1d 32→64 k3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414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Conv1d 64→128 k3 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889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攤平 → 8,192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363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全連接 → 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838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600"/>
                </a:solidFill>
                <a:latin typeface="Microsoft JhengHei"/>
              </a:rPr>
              <a:t>FC→μ(32)  FC→logσ²(32)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594360"/>
            <a:ext cx="2926080" cy="4114800"/>
          </a:xfrm>
          <a:prstGeom prst="rect">
            <a:avLst/>
          </a:prstGeom>
          <a:solidFill>
            <a:srgbClr val="0A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7132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600"/>
                </a:solidFill>
                <a:latin typeface="Microsoft JhengHei"/>
              </a:rPr>
              <a:t>潛在空間  z ∈ ℝ³²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170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0BEC5"/>
                </a:solidFill>
                <a:latin typeface="Microsoft JhengHei"/>
              </a:rPr>
              <a:t>重參數化技巧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Microsoft JhengHei"/>
              </a:rPr>
              <a:t>z = μ + ε·exp(0.5·logσ²)
ε ~ N(0, 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267712"/>
            <a:ext cx="2651760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3408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96F3"/>
                </a:solidFill>
                <a:latin typeface="Microsoft JhengHei"/>
              </a:rPr>
              <a:t>損失函數：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51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Microsoft JhengHei"/>
              </a:rPr>
              <a:t>L = MSE(x,x̂)×1024
  + β·KL(q ‖ N(0,I))
β = 1.0（標準 VAE）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840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5A"/>
                </a:solidFill>
                <a:latin typeface="Microsoft JhengHei"/>
              </a:rPr>
              <a:t>異常分數 = 重建誤差 MSE
高誤差 → 異常訊號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94360"/>
            <a:ext cx="2743200" cy="411480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658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96F3"/>
                </a:solidFill>
                <a:latin typeface="Microsoft JhengHei"/>
              </a:rPr>
              <a:t>解碼器 Decoder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0515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z (B, 32)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399031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全連接 → 256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74650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全連接 → 8,192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09397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重塑 (128, 64)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414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ConvT 128→64 k3 s2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7889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ConvT 64→32  k3 s2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1363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JhengHei"/>
              </a:rPr>
              <a:t>ConvT 32→16  k5 s2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4838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C85A"/>
                </a:solidFill>
                <a:latin typeface="Microsoft JhengHei"/>
              </a:rPr>
              <a:t>ConvT 16→1   k7 s2 + Tanh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訓練策略：無監督正常流形學習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40080"/>
            <a:ext cx="2834640" cy="19202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19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Microsoft JhengHei"/>
              </a:rPr>
              <a:t>僅正常資料訓練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143000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VAE 訓練期間不接觸任何故障訊號
純無監督學習，不需故障標籤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2968" y="640080"/>
            <a:ext cx="2834640" cy="19202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82696" y="731519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Microsoft JhengHei"/>
              </a:rPr>
              <a:t>5 折交叉驗證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2696" y="1143000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KFold(n=5, shuffle=True)
每折：2,648 訓練 / 662 驗證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640080"/>
            <a:ext cx="2834640" cy="19202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731519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Microsoft JhengHei"/>
              </a:rPr>
              <a:t>最佳化器設定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1143000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Adam  lr=1×10⁻³  weight_decay=1×10⁻⁵
ReduceLROnPlateau(patience=10)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743200"/>
            <a:ext cx="2834640" cy="19202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834640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Microsoft JhengHei"/>
              </a:rPr>
              <a:t>早停法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246120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耐心值 = 20 個 epoch
自動載入最佳驗證損失的模型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2743200"/>
            <a:ext cx="2834640" cy="19202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2696" y="2834640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Microsoft JhengHei"/>
              </a:rPr>
              <a:t>批次與訓練次數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3246120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批次大小 = 64，最大 100 epochs
Fold 5 於第 60 epoch 觸發早停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2743200"/>
            <a:ext cx="2834640" cy="192024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834640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Microsoft JhengHei"/>
              </a:rPr>
              <a:t>運算硬體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3246120"/>
            <a:ext cx="2615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Apple MPS（Metal Performance Shaders）
MacBook Apple Silicon GPU 加速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VAE 訓練曲線（最佳 Fold 1）</a:t>
            </a:r>
          </a:p>
        </p:txBody>
      </p:sp>
      <p:pic>
        <p:nvPicPr>
          <p:cNvPr id="4" name="Picture 3" descr="07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8869680" cy="2429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5"/>
                </a:solidFill>
                <a:latin typeface="Microsoft JhengHei"/>
              </a:rPr>
              <a:t>總損失：1,172 → 176　｜　重建損失：1,172 → 173　｜　KL 散度穩定於 3.79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5 折交叉驗證結果</a:t>
            </a:r>
          </a:p>
        </p:txBody>
      </p:sp>
      <p:pic>
        <p:nvPicPr>
          <p:cNvPr id="4" name="Picture 3" descr="06_kfol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8869680" cy="37657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71600" y="4645152"/>
            <a:ext cx="3108960" cy="8229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4752" y="4681728"/>
            <a:ext cx="2962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5A"/>
                </a:solidFill>
                <a:latin typeface="Microsoft JhengHei"/>
              </a:rPr>
              <a:t>1.0000 ± 0.0000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5102352"/>
            <a:ext cx="2962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Microsoft JhengHei"/>
              </a:rPr>
              <a:t>平均 AUC-ROC（5 折全滿分）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645152"/>
            <a:ext cx="2743200" cy="822960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2352" y="4681728"/>
            <a:ext cx="25968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600"/>
                </a:solidFill>
                <a:latin typeface="Microsoft JhengHei"/>
              </a:rPr>
              <a:t>342.61 ± 3.72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5102352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Microsoft JhengHei"/>
              </a:rPr>
              <a:t>平均驗證損失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異常偵測：重建誤差分布分析</a:t>
            </a:r>
          </a:p>
        </p:txBody>
      </p:sp>
      <p:pic>
        <p:nvPicPr>
          <p:cNvPr id="4" name="Picture 3" descr="08_reconstructio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8869680" cy="32872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4526280"/>
            <a:ext cx="1417320" cy="576072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4553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96F3"/>
                </a:solidFill>
                <a:latin typeface="Microsoft JhengHei"/>
              </a:rPr>
              <a:t>0.2007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48188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5"/>
                </a:solidFill>
                <a:latin typeface="Microsoft JhengHei"/>
              </a:rPr>
              <a:t>正常 平均值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4526280"/>
            <a:ext cx="1417320" cy="576072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4553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EC5"/>
                </a:solidFill>
                <a:latin typeface="Microsoft JhengHei"/>
              </a:rPr>
              <a:t>0.0950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8188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5"/>
                </a:solidFill>
                <a:latin typeface="Microsoft JhengHei"/>
              </a:rPr>
              <a:t>正常 標準差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526280"/>
            <a:ext cx="1417320" cy="576072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553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4336"/>
                </a:solidFill>
                <a:latin typeface="Microsoft JhengHei"/>
              </a:rPr>
              <a:t>1.0493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8188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5"/>
                </a:solidFill>
                <a:latin typeface="Microsoft JhengHei"/>
              </a:rPr>
              <a:t>故障 平均值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4526280"/>
            <a:ext cx="1417320" cy="576072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553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EC5"/>
                </a:solidFill>
                <a:latin typeface="Microsoft JhengHei"/>
              </a:rPr>
              <a:t>0.0103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8188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5"/>
                </a:solidFill>
                <a:latin typeface="Microsoft JhengHei"/>
              </a:rPr>
              <a:t>故障 標準差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526280"/>
            <a:ext cx="1417320" cy="576072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553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600"/>
                </a:solidFill>
                <a:latin typeface="Microsoft JhengHei"/>
              </a:rPr>
              <a:t>5.2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188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5"/>
                </a:solidFill>
                <a:latin typeface="Microsoft JhengHei"/>
              </a:rPr>
              <a:t>誤差倍率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4526280"/>
            <a:ext cx="1417320" cy="576072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553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5A"/>
                </a:solidFill>
                <a:latin typeface="Microsoft JhengHei"/>
              </a:rPr>
              <a:t>0.4778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8188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EC5"/>
                </a:solidFill>
                <a:latin typeface="Microsoft JhengHei"/>
              </a:rPr>
              <a:t>偵測閾值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ROC 曲線 — VAE 異常偵測器</a:t>
            </a:r>
          </a:p>
        </p:txBody>
      </p:sp>
      <p:pic>
        <p:nvPicPr>
          <p:cNvPr id="4" name="Picture 3" descr="09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66928"/>
            <a:ext cx="7315200" cy="73026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7375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5A"/>
                </a:solidFill>
                <a:latin typeface="Microsoft JhengHei"/>
              </a:rPr>
              <a:t>AUC = 1.0000 — 正常與故障訊號完美分離，零誤報率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VAE 潛在空間視覺化（t-SNE 投影）</a:t>
            </a:r>
          </a:p>
        </p:txBody>
      </p:sp>
      <p:pic>
        <p:nvPicPr>
          <p:cNvPr id="4" name="Picture 3" descr="10_latent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66928"/>
            <a:ext cx="8869680" cy="38409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66344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BEC5"/>
                </a:solidFill>
                <a:latin typeface="Microsoft JhengHei"/>
              </a:rPr>
              <a:t>正常資料（藍）形成環形分布，符合 N(0,I) 先驗；故障資料聚集於中央，落在正常重建流形之外。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4572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F3"/>
                </a:solidFill>
                <a:latin typeface="Microsoft JhengHei"/>
              </a:rPr>
              <a:t>結論與未來展望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Microsoft JhengHei"/>
              </a:rPr>
              <a:t>主要成果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5 折交叉驗證 AUC-ROC 全部達 1.0000，標準差為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故障重建誤差為正常的 5.2 倍，可靠分離正常與故障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閾值 0.4778 可完美標記所有三種故障類型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純無監督訓練，不需任何故障標籤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</a:rPr>
              <a:t>▸  資料分布符合真實工廠場景（79.5% 正常）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594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Microsoft JhengHei"/>
              </a:rPr>
              <a:t>量化指標摘要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987552"/>
            <a:ext cx="3474720" cy="402336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051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K-Fold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C85A"/>
                </a:solidFill>
                <a:latin typeface="Microsoft JhengHei"/>
              </a:rPr>
              <a:t>1.0000 ± 0.000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463040"/>
            <a:ext cx="3474720" cy="402336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最終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527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C85A"/>
                </a:solidFill>
                <a:latin typeface="Microsoft JhengHei"/>
              </a:rPr>
              <a:t>1.0000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1938528"/>
            <a:ext cx="3474720" cy="402336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002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正常誤差 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002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196F3"/>
                </a:solidFill>
                <a:latin typeface="Microsoft JhengHei"/>
              </a:rPr>
              <a:t>0.2007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414016"/>
            <a:ext cx="3474720" cy="402336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478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故障誤差 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4780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44336"/>
                </a:solidFill>
                <a:latin typeface="Microsoft JhengHei"/>
              </a:rPr>
              <a:t>1.0493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2889504"/>
            <a:ext cx="3474720" cy="402336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誤差倍率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9535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D600"/>
                </a:solidFill>
                <a:latin typeface="Microsoft JhengHei"/>
              </a:rPr>
              <a:t>5.2 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364992"/>
            <a:ext cx="3474720" cy="402336"/>
          </a:xfrm>
          <a:prstGeom prst="rect">
            <a:avLst/>
          </a:prstGeom>
          <a:solidFill>
            <a:srgbClr val="11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Microsoft JhengHei"/>
              </a:rPr>
              <a:t>偵測閾值 P95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429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C85A"/>
                </a:solidFill>
                <a:latin typeface="Microsoft JhengHei"/>
              </a:rPr>
              <a:t>0.4778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822191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  <a:latin typeface="Microsoft JhengHei"/>
              </a:rPr>
              <a:t>未來展望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169663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▸  部署於 IoT 串流感測器，實現即時自適應閾值調整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443983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▸  擴展至多感測器融合（振動 + 溫度 + 電流）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718303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JhengHei"/>
              </a:rPr>
              <a:t>▸  引入 Transformer 編碼器捕捉長距離時序依賴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