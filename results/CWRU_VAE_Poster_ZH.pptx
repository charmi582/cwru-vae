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39208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39208" cy="5486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93248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Microsoft JhengHei"/>
              </a:rPr>
              <a:t>基於變分自編碼器之軸承故障無監督異常偵測研究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29324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BDEFB"/>
                </a:solidFill>
                <a:latin typeface="Microsoft JhengHei"/>
              </a:rPr>
              <a:t>Unsupervised Bearing Fault Detection Using Variational Autoencoder with KL-Regularised Latent Normal Manifold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5204" y="3794760"/>
            <a:ext cx="3931920" cy="777240"/>
          </a:xfrm>
          <a:prstGeom prst="rect">
            <a:avLst/>
          </a:prstGeom>
          <a:solidFill>
            <a:srgbClr val="1A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66644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CWRU 資料集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90004" y="3794760"/>
            <a:ext cx="3931920" cy="777240"/>
          </a:xfrm>
          <a:prstGeom prst="rect">
            <a:avLst/>
          </a:prstGeom>
          <a:solidFill>
            <a:srgbClr val="1A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81444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VAE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04804" y="3794760"/>
            <a:ext cx="3931920" cy="777240"/>
          </a:xfrm>
          <a:prstGeom prst="rect">
            <a:avLst/>
          </a:prstGeom>
          <a:solidFill>
            <a:srgbClr val="1A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6244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KL 散度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19604" y="3794760"/>
            <a:ext cx="3931920" cy="777240"/>
          </a:xfrm>
          <a:prstGeom prst="rect">
            <a:avLst/>
          </a:prstGeom>
          <a:solidFill>
            <a:srgbClr val="1A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11044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無監督學習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34404" y="3794760"/>
            <a:ext cx="3931920" cy="777240"/>
          </a:xfrm>
          <a:prstGeom prst="rect">
            <a:avLst/>
          </a:prstGeom>
          <a:solidFill>
            <a:srgbClr val="1A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25844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異常偵測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49204" y="3794760"/>
            <a:ext cx="3931920" cy="777240"/>
          </a:xfrm>
          <a:prstGeom prst="rect">
            <a:avLst/>
          </a:prstGeom>
          <a:solidFill>
            <a:srgbClr val="1A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40644" y="3840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AUC = 1.0000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06440"/>
            <a:ext cx="29507688" cy="256032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28959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47A1"/>
                </a:solidFill>
                <a:latin typeface="Microsoft JhengHei"/>
              </a:rPr>
              <a:t>【摘要 Abstract】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59"/>
            <a:ext cx="289590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本研究提出一種基於變分自編碼器（VAE）的無監督軸承故障異常偵測方法。以凱斯西儲大學（CWRU）軸承振動資料集為實驗對象，模擬真實工廠場景中資料嚴重不平衡的條件（正常資料佔 79.5%），VAE 僅使用正常振動訊號進行訓練，透過 KL 損失函數將正常資料的潛在表示壓縮至標準常態分布 N(0,I) 空間。當故障訊號輸入時，因超出正常流形範圍而產生顯著偏高的重建誤差（正常/故障誤差比達 5.2 倍），實現零標籤需求的精準異常偵測。5 折交叉驗證結果顯示 AUC-ROC 全數達到 1.0000。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8823959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891539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§1  研究動機與目的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9692639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軸承故障是旋轉機械最常見的失效原因之一，約佔機械設備維護成本的 40%。傳統監督式學習需大量故障標籤，但實際工廠中故障事件極為罕見且標注成本昂貴。
本研究目標：建立一種不依賴故障標籤的純無監督異常偵測系統，透過學習正常軸承訊號的潛在分布，使任何偏離「正常流形」的訊號均可被自動識別為潛在故障。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2234672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12326111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§2  CWRU 軸承資料集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3103351"/>
            <a:ext cx="8961120" cy="38404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13103351"/>
            <a:ext cx="8869680" cy="43891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1316735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參數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1316735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數值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13542263"/>
            <a:ext cx="8869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13606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軸承型號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606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SKF 6205 深溝球軸承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13981176"/>
            <a:ext cx="8869680" cy="4389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140451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採樣頻率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14045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12,000 Hz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14420087"/>
            <a:ext cx="8869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1448409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故障製造法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1448409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電火花加工（EDM）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14859000"/>
            <a:ext cx="8869680" cy="4389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14923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故障尺寸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14923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0.007" / 0.014" / 0.021" 直徑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15297911"/>
            <a:ext cx="8869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153619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負載條件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1536191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0–3 HP（1720–1797 RPM）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15736823"/>
            <a:ext cx="8869680" cy="4389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1580083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故障類型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158008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正常 / 內圈 / 滾動體 / 外圈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16175735"/>
            <a:ext cx="88696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1623974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檔案數量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16239743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40 個 .mat 檔案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17007839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170992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§3  資料前處理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17876519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① 滑動視窗：大小 1,024 點（≈85 ms）、步長 512 點（50% 重疊）
② 工廠分布模擬：保留全部正常片段（3,310），
   隨機抽取 10% 故障片段（852），反映真實工廠不平衡狀況
③ Z-Score 正規化：每片段獨立標準化（μ=0，σ=1）</a:t>
            </a:r>
          </a:p>
        </p:txBody>
      </p:sp>
      <p:pic>
        <p:nvPicPr>
          <p:cNvPr id="53" name="Picture 52" descr="04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869911"/>
            <a:ext cx="8961120" cy="3760929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365760" y="25886663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25978103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§4  時域振動訊號比較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26755343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四類訊號在時域上呈現明顯差異：
正常訊號振幅小且規律；故障訊號振幅偏大，
外圈故障（紫）可見明顯週期性衝擊現象。</a:t>
            </a:r>
          </a:p>
        </p:txBody>
      </p:sp>
      <p:pic>
        <p:nvPicPr>
          <p:cNvPr id="57" name="Picture 56" descr="01_time_do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200095"/>
            <a:ext cx="8961120" cy="7678467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9829800" y="8823959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94392" y="891539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§5  研究方法：VAE 架構設計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9692639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採用一維卷積 VAE，由編碼器、重參數化採樣層與解碼器三部分組成。編碼器將 1,024 維振動片段壓縮至 32 維潛在向量，並輸出均值 μ 與對數方差 logσ²；解碼器從潛在向量重建原始訊號。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29800" y="11686031"/>
            <a:ext cx="8961120" cy="77724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921240" y="11823191"/>
            <a:ext cx="877824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12680" y="11878055"/>
            <a:ext cx="8641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編碼器 Encoder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1226210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輸入：(B, 1, 1,024)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0" y="1259128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Conv1d 1→16   k=7 stride=2  → (16, 512)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60" y="12920471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Conv1d 16→32  k=5 stride=2  → (32, 256)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13249655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Conv1d 32→64  k=3 stride=2  → (64, 128)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1357883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Conv1d 64→128 k=3 stride=2  → (128, 64)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1390802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攤平 Flatten → 8,192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60" y="1423720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全連接 FC 8192→256  ReLU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60" y="14566391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輸出：μ(32)  &amp;  logσ²(32)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21240" y="14987015"/>
            <a:ext cx="877824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12680" y="15041879"/>
            <a:ext cx="8641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潛在空間 Latent Space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66960" y="1542592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重參數化：z = μ + ε·exp(0.5·logσ²)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6960" y="15755111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ε ~ N(0, I)  （訓練時採樣，推論時用 μ）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16084295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損失函數：L = MSE(x,x̂)×1024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1641347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              + β·KL(q(z|x) ‖ N(0,I))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60" y="1674266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KL = -½·Σ(1+logσ²−μ²−σ²),  β=1.0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921240" y="17163287"/>
            <a:ext cx="8778240" cy="411480"/>
          </a:xfrm>
          <a:prstGeom prst="rect">
            <a:avLst/>
          </a:prstGeom>
          <a:solidFill>
            <a:srgbClr val="780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12680" y="17218151"/>
            <a:ext cx="8641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解碼器 Decoder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6960" y="1760219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輸入：z(32)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66960" y="1793138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全連接 FC 32→256  ReLU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66960" y="1826056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全連接 FC 256→8,192  ReLU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66960" y="18589751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重塑 Reshape → (128, 64)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6960" y="18918935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ConvT 128→64 k=3 s=2 → (64,128)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0" y="1924811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ConvT 64→32  k=3 s=2 → (32,256)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66960" y="19577303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ConvT 32→16  k=5 s=2 → (16,512)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19906487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  ConvT 16→1   k=7 s=2 + Tanh → (1,1024)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29800" y="19714463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994392" y="19805903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§6  訓練策略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29800" y="20583143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• 僅以正常振動訊號訓練 VAE（無監督）
• 5 折交叉驗證（KFold, shuffle=True）
• Adam 最佳化器，lr=1×10⁻³，weight_decay=1×10⁻⁵
• ReduceLROnPlateau 學習率調度（patience=10）
• 早停法：patience=20，Fold 5 於第 60 epoch 停止
• 批次大小：64，最大訓練次數：100
• 硬體：Apple MPS（Metal Performance Shaders）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29800" y="23399495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94392" y="23490935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§7  FFT 頻域分析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29800" y="24268175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故障訊號在頻域出現明顯諧波峰值，
正常訊號頻譜相對平坦乾淨。</a:t>
            </a:r>
          </a:p>
        </p:txBody>
      </p:sp>
      <p:pic>
        <p:nvPicPr>
          <p:cNvPr id="95" name="Picture 94" descr="02_fft_spectr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25347167"/>
            <a:ext cx="8961120" cy="7622799"/>
          </a:xfrm>
          <a:prstGeom prst="rect">
            <a:avLst/>
          </a:prstGeom>
        </p:spPr>
      </p:pic>
      <p:sp>
        <p:nvSpPr>
          <p:cNvPr id="96" name="Rectangle 95"/>
          <p:cNvSpPr/>
          <p:nvPr/>
        </p:nvSpPr>
        <p:spPr>
          <a:xfrm>
            <a:off x="9829800" y="32186879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94392" y="3227831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§8  STFT 時頻譜分析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29800" y="33055560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時頻圖顯示故障訊號具有週期性能量聚集現象，
正常訊號時頻分布均勻。</a:t>
            </a:r>
          </a:p>
        </p:txBody>
      </p:sp>
      <p:pic>
        <p:nvPicPr>
          <p:cNvPr id="99" name="Picture 98" descr="03_spectro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34134552"/>
            <a:ext cx="8961120" cy="2216778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9829800" y="40334184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94392" y="4042562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§9  t-SNE 特徵空間分析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29800" y="41202864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原始訊號特徵空間中，故障與正常訊號已具備部分可分性，VAE 潛在空間可進一步強化此分離。</a:t>
            </a:r>
          </a:p>
        </p:txBody>
      </p:sp>
      <p:pic>
        <p:nvPicPr>
          <p:cNvPr id="103" name="Picture 102" descr="05_tsne_featu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42281856"/>
            <a:ext cx="8961120" cy="3878863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19293840" y="8823959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9458432" y="891539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§10  訓練曲線（最佳 Fold 1）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9293840" y="9692639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總損失由 1,172 快速收斂至 176；KL 損失穩定於 3.79，顯示潛在空間已收斂至 N(0,I) 先驗分布。</a:t>
            </a:r>
          </a:p>
        </p:txBody>
      </p:sp>
      <p:pic>
        <p:nvPicPr>
          <p:cNvPr id="107" name="Picture 106" descr="07_training_curv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93840" y="10771631"/>
            <a:ext cx="8961120" cy="2454319"/>
          </a:xfrm>
          <a:prstGeom prst="rect">
            <a:avLst/>
          </a:prstGeom>
        </p:spPr>
      </p:pic>
      <p:sp>
        <p:nvSpPr>
          <p:cNvPr id="108" name="Rectangle 107"/>
          <p:cNvSpPr/>
          <p:nvPr/>
        </p:nvSpPr>
        <p:spPr>
          <a:xfrm>
            <a:off x="19293840" y="15873984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9458432" y="1596542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§11  5 折交叉驗證結果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293840" y="16742663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5 折實驗中每一折 AUC-ROC 均達 1.0000，驗證損失穩定（342.61±3.72），模型具備良好泛化能力。</a:t>
            </a:r>
          </a:p>
        </p:txBody>
      </p:sp>
      <p:pic>
        <p:nvPicPr>
          <p:cNvPr id="111" name="Picture 110" descr="06_kfold_resul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93840" y="17821656"/>
            <a:ext cx="8961120" cy="3804576"/>
          </a:xfrm>
          <a:prstGeom prst="rect">
            <a:avLst/>
          </a:prstGeom>
        </p:spPr>
      </p:pic>
      <p:sp>
        <p:nvSpPr>
          <p:cNvPr id="112" name="Rectangle 111"/>
          <p:cNvSpPr/>
          <p:nvPr/>
        </p:nvSpPr>
        <p:spPr>
          <a:xfrm>
            <a:off x="19293840" y="23746968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9458432" y="238384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§12  重建誤差分布分析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293840" y="24615648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正常訊號重建誤差均值 0.2007，故障訊號為 1.0493（約 5.2 倍）。兩類分布完全不重疊，P95 閾值 0.4778 可無誤差分割。</a:t>
            </a:r>
          </a:p>
        </p:txBody>
      </p:sp>
      <p:pic>
        <p:nvPicPr>
          <p:cNvPr id="115" name="Picture 114" descr="08_reconstruction_err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93840" y="25694639"/>
            <a:ext cx="8961120" cy="3321175"/>
          </a:xfrm>
          <a:prstGeom prst="rect">
            <a:avLst/>
          </a:prstGeom>
        </p:spPr>
      </p:pic>
      <p:sp>
        <p:nvSpPr>
          <p:cNvPr id="116" name="Rectangle 115"/>
          <p:cNvSpPr/>
          <p:nvPr/>
        </p:nvSpPr>
        <p:spPr>
          <a:xfrm>
            <a:off x="19293840" y="31619952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9458432" y="317113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§13  ROC 曲線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293840" y="32488632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ROC 曲線貼頂角，AUC = 1.0000，達成完美異常偵測。
閾值 0.4778 下，假陽性率（FPR）= 0，真陽性率（TPR）= 1。</a:t>
            </a:r>
          </a:p>
        </p:txBody>
      </p:sp>
      <p:pic>
        <p:nvPicPr>
          <p:cNvPr id="119" name="Picture 118" descr="09_roc_cur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293840" y="33567624"/>
            <a:ext cx="8961120" cy="8945723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19293840" y="39584376"/>
            <a:ext cx="8961120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9458432" y="3967581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§14  潛在空間視覺化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9293840" y="40453056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正常資料（藍）形成符合 N(0,I) 先驗的環形分布，故障資料（紅/橙/紫）聚集於中心，落在正常流形之外。</a:t>
            </a:r>
          </a:p>
        </p:txBody>
      </p:sp>
      <p:pic>
        <p:nvPicPr>
          <p:cNvPr id="123" name="Picture 122" descr="10_latent_spa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93840" y="41532048"/>
            <a:ext cx="8961120" cy="3880502"/>
          </a:xfrm>
          <a:prstGeom prst="rect">
            <a:avLst/>
          </a:prstGeom>
        </p:spPr>
      </p:pic>
      <p:sp>
        <p:nvSpPr>
          <p:cNvPr id="124" name="Rectangle 123"/>
          <p:cNvSpPr/>
          <p:nvPr/>
        </p:nvSpPr>
        <p:spPr>
          <a:xfrm>
            <a:off x="19293840" y="47548800"/>
            <a:ext cx="8961120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9458432" y="47640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icrosoft JhengHei"/>
              </a:rPr>
              <a:t>§15  結論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9293840" y="48417480"/>
            <a:ext cx="896112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9403568" y="48527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K-Fold AUC-ROC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871680" y="48527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C85A"/>
                </a:solidFill>
                <a:latin typeface="Microsoft JhengHei"/>
              </a:rPr>
              <a:t>1.0000 ± 0.000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9293840" y="49121568"/>
            <a:ext cx="896112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9403568" y="492312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最終 AUC-ROC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4871680" y="492312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C85A"/>
                </a:solidFill>
                <a:latin typeface="Microsoft JhengHei"/>
              </a:rPr>
              <a:t>1.0000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9293840" y="49825656"/>
            <a:ext cx="896112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9403568" y="499353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正常重建誤差 μ ± σ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4871680" y="4993538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196F3"/>
                </a:solidFill>
                <a:latin typeface="Microsoft JhengHei"/>
              </a:rPr>
              <a:t>0.2007 ± 0.0950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293840" y="50529744"/>
            <a:ext cx="896112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9403568" y="506394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故障重建誤差 μ ± σ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4871680" y="50639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44336"/>
                </a:solidFill>
                <a:latin typeface="Microsoft JhengHei"/>
              </a:rPr>
              <a:t>1.0493 ± 0.0103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9293840" y="51233832"/>
            <a:ext cx="896112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9403568" y="51343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誤差倍率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4871680" y="5134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D600"/>
                </a:solidFill>
                <a:latin typeface="Microsoft JhengHei"/>
              </a:rPr>
              <a:t>約 5.2 倍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9293840" y="51937920"/>
            <a:ext cx="896112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9403568" y="520476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異常偵測閾值（P95）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4871680" y="52047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C85A"/>
                </a:solidFill>
                <a:latin typeface="Microsoft JhengHei"/>
              </a:rPr>
              <a:t>0.4778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293840" y="52916328"/>
            <a:ext cx="896112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</a:rPr>
              <a:t>本研究驗證 VAE 結合 KL 正則化可在完全無監督條件下，達成軸承故障的完美異常偵測（AUC=1.0000）。方法適用於真實工廠不平衡資料場景，無需任何故障標籤。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0" y="41568624"/>
            <a:ext cx="30239208" cy="12344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65760" y="41678352"/>
            <a:ext cx="295076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DEFB"/>
                </a:solidFill>
                <a:latin typeface="Microsoft JhengHei"/>
              </a:rPr>
              <a:t>【參考文獻】  [1] Smith, W.A. &amp; Randall, R.B. (2015). Rolling element bearing diagnostics using the Case Western Reserve University data. Mech. Syst. Signal Process., 64–65, 100–131.  [2] Kingma, D.P. &amp; Welling, M. (2014). Auto-Encoding Variational Bayes. ICLR 2014.  [3] Loparo, K.A. Case Western Reserve University Bearing Data Center. https://engineering.case.edu/bearingdatacenter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65760" y="42318432"/>
            <a:ext cx="29507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CAF9"/>
                </a:solidFill>
                <a:latin typeface="Microsoft JhengHei"/>
              </a:rPr>
              <a:t>資料集：Case Western Reserve University Bearing Data Center  ·  框架：PyTorch  ·  硬體：Apple MPS  ·  程式碼：/Users/guset/deep/cwru_vae/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